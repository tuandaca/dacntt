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fonts/font7.fntdata" ContentType="application/x-fontdata"/>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1"/>
  </p:sldMasterIdLst>
  <p:notesMasterIdLst>
    <p:notesMasterId r:id="rId4"/>
  </p:notesMasterIdLst>
  <p:sldIdLst>
    <p:sldId id="258" r:id="rId3"/>
  </p:sldIdLst>
  <p:sldSz cx="21374100" cy="30276800"/>
  <p:notesSz cx="6858000" cy="9144000"/>
  <p:embeddedFontLst>
    <p:embeddedFont>
      <p:font typeface="SVN-Gilroy" panose="00000800000000000000"/>
      <p:bold r:id="rId8"/>
    </p:embeddedFont>
    <p:embeddedFont>
      <p:font typeface="SVN-Gilroy" panose="00000800000000000000" charset="0"/>
      <p:bold r:id="rId9"/>
    </p:embeddedFont>
    <p:embeddedFont>
      <p:font typeface="SVN-Gilroy XBold" panose="00000900000000000000" pitchFamily="50" charset="0"/>
      <p:bold r:id="rId10"/>
    </p:embeddedFont>
    <p:embeddedFont>
      <p:font typeface="Calibri" panose="020F0502020204030204" charset="0"/>
      <p:regular r:id="rId11"/>
      <p:bold r:id="rId12"/>
      <p:italic r:id="rId13"/>
      <p:boldItalic r:id="rId1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45"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70C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napVertSplitter="1" vertBarState="minimized" horzBarState="maximized">
    <p:restoredLeft sz="15620" autoAdjust="0"/>
    <p:restoredTop sz="95090" autoAdjust="0"/>
  </p:normalViewPr>
  <p:slideViewPr>
    <p:cSldViewPr showGuides="1">
      <p:cViewPr>
        <p:scale>
          <a:sx n="33" d="100"/>
          <a:sy n="33" d="100"/>
        </p:scale>
        <p:origin x="3402" y="-6"/>
      </p:cViewPr>
      <p:guideLst>
        <p:guide orient="horz" pos="2145"/>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font" Target="fonts/font2.fntdata"/><Relationship Id="rId8" Type="http://schemas.openxmlformats.org/officeDocument/2006/relationships/font" Target="fonts/font1.fntdata"/><Relationship Id="rId7" Type="http://schemas.openxmlformats.org/officeDocument/2006/relationships/tableStyles" Target="tableStyles.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font" Target="fonts/font7.fntdata"/><Relationship Id="rId13" Type="http://schemas.openxmlformats.org/officeDocument/2006/relationships/font" Target="fonts/font6.fntdata"/><Relationship Id="rId12" Type="http://schemas.openxmlformats.org/officeDocument/2006/relationships/font" Target="fonts/font5.fntdata"/><Relationship Id="rId11" Type="http://schemas.openxmlformats.org/officeDocument/2006/relationships/font" Target="fonts/font4.fntdata"/><Relationship Id="rId10" Type="http://schemas.openxmlformats.org/officeDocument/2006/relationships/font" Target="fonts/font3.fntdata"/><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C118617-0849-4FC5-A3C6-CE0F1E79DFBD}" type="datetimeFigureOut">
              <a:rPr lang="en-US" smtClean="0"/>
            </a:fld>
            <a:endParaRPr lang="en-US"/>
          </a:p>
        </p:txBody>
      </p:sp>
      <p:sp>
        <p:nvSpPr>
          <p:cNvPr id="4" name="Slide Image Placeholder 3"/>
          <p:cNvSpPr>
            <a:spLocks noGrp="1" noRot="1" noChangeAspect="1"/>
          </p:cNvSpPr>
          <p:nvPr>
            <p:ph type="sldImg" idx="2"/>
          </p:nvPr>
        </p:nvSpPr>
        <p:spPr>
          <a:xfrm>
            <a:off x="2339975" y="1143000"/>
            <a:ext cx="217805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81D160-6648-4A4C-BEA5-3FB406DFE130}"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a:t>Tên loại: </a:t>
            </a:r>
            <a:r>
              <a:rPr lang="en-US"/>
              <a:t>Size: 48; Font: SVN Gilroy </a:t>
            </a:r>
            <a:r>
              <a:rPr lang="en-US" err="1"/>
              <a:t>Xbold</a:t>
            </a:r>
            <a:r>
              <a:rPr lang="en-US"/>
              <a:t>, In </a:t>
            </a:r>
            <a:r>
              <a:rPr lang="en-US" err="1"/>
              <a:t>hoa</a:t>
            </a:r>
            <a:r>
              <a:rPr lang="en-US"/>
              <a:t> </a:t>
            </a:r>
            <a:r>
              <a:rPr lang="en-US" err="1"/>
              <a:t>tất</a:t>
            </a:r>
            <a:r>
              <a:rPr lang="en-US"/>
              <a:t> </a:t>
            </a:r>
            <a:r>
              <a:rPr lang="en-US" err="1"/>
              <a:t>cả</a:t>
            </a:r>
            <a:endParaRPr lang="vi-VN"/>
          </a:p>
          <a:p>
            <a:r>
              <a:rPr lang="vi-VN"/>
              <a:t>Năm - ngành: </a:t>
            </a:r>
            <a:r>
              <a:rPr lang="en-US"/>
              <a:t>36</a:t>
            </a:r>
            <a:r>
              <a:rPr lang="vi-VN"/>
              <a:t> (Năm</a:t>
            </a:r>
            <a:r>
              <a:rPr lang="en-US"/>
              <a:t>: SVN Gilroy </a:t>
            </a:r>
            <a:r>
              <a:rPr lang="en-US" err="1"/>
              <a:t>Semibold</a:t>
            </a:r>
            <a:r>
              <a:rPr lang="en-US"/>
              <a:t> +</a:t>
            </a:r>
            <a:r>
              <a:rPr lang="vi-VN"/>
              <a:t> </a:t>
            </a:r>
            <a:r>
              <a:rPr lang="en-US"/>
              <a:t>I</a:t>
            </a:r>
            <a:r>
              <a:rPr lang="vi-VN" err="1"/>
              <a:t>talic</a:t>
            </a:r>
            <a:r>
              <a:rPr lang="vi-VN"/>
              <a:t> – Ngành</a:t>
            </a:r>
            <a:r>
              <a:rPr lang="en-US"/>
              <a:t>:</a:t>
            </a:r>
            <a:r>
              <a:rPr lang="vi-VN"/>
              <a:t> </a:t>
            </a:r>
            <a:r>
              <a:rPr lang="en-US"/>
              <a:t>SVN Gilroy + Bold</a:t>
            </a:r>
            <a:r>
              <a:rPr lang="vi-VN"/>
              <a:t>)</a:t>
            </a:r>
            <a:endParaRPr lang="vi-VN"/>
          </a:p>
          <a:p>
            <a:r>
              <a:rPr lang="vi-VN"/>
              <a:t>Tên đề tài: </a:t>
            </a:r>
            <a:r>
              <a:rPr lang="en-US"/>
              <a:t>Size: 46; Font: SVN Gilroy + Bold</a:t>
            </a:r>
            <a:endParaRPr lang="vi-VN"/>
          </a:p>
          <a:p>
            <a:r>
              <a:rPr lang="vi-VN"/>
              <a:t>Tên người thực hiện: </a:t>
            </a:r>
            <a:r>
              <a:rPr lang="en-US"/>
              <a:t>Size: 40; Font: SVN Gilroy + Italic</a:t>
            </a:r>
            <a:endParaRPr lang="vi-VN"/>
          </a:p>
          <a:p>
            <a:r>
              <a:rPr lang="vi-VN"/>
              <a:t>QR </a:t>
            </a:r>
            <a:r>
              <a:rPr lang="vi-VN" err="1"/>
              <a:t>Code</a:t>
            </a:r>
            <a:r>
              <a:rPr lang="vi-VN"/>
              <a:t>: </a:t>
            </a:r>
            <a:r>
              <a:rPr lang="en-US"/>
              <a:t>3’’ x 3’’</a:t>
            </a:r>
            <a:endParaRPr lang="vi-VN"/>
          </a:p>
          <a:p>
            <a:endParaRPr lang="vi-VN"/>
          </a:p>
          <a:p>
            <a:r>
              <a:rPr lang="vi-VN"/>
              <a:t>Tên loại đề tài:</a:t>
            </a:r>
            <a:endParaRPr lang="vi-VN"/>
          </a:p>
          <a:p>
            <a:pPr marL="228600" indent="-228600">
              <a:buAutoNum type="arabicPeriod"/>
            </a:pPr>
            <a:r>
              <a:rPr lang="vi-VN"/>
              <a:t>ĐỀ TÀI NGHIÊN CỨU KHOA HỌC</a:t>
            </a:r>
            <a:endParaRPr lang="vi-VN"/>
          </a:p>
          <a:p>
            <a:pPr marL="228600" indent="-228600">
              <a:buAutoNum type="arabicPeriod"/>
            </a:pPr>
            <a:r>
              <a:rPr lang="vi-VN"/>
              <a:t>KHÓA LUẬN TỐT NGHIỆP</a:t>
            </a:r>
            <a:endParaRPr lang="vi-VN"/>
          </a:p>
          <a:p>
            <a:pPr marL="228600" indent="-228600">
              <a:buAutoNum type="arabicPeriod"/>
            </a:pPr>
            <a:r>
              <a:rPr lang="vi-VN"/>
              <a:t>BÀI BÁO KHOA HỌC</a:t>
            </a:r>
            <a:endParaRPr lang="vi-VN"/>
          </a:p>
          <a:p>
            <a:pPr marL="228600" indent="-228600">
              <a:buAutoNum type="arabicPeriod"/>
            </a:pPr>
            <a:r>
              <a:rPr lang="vi-VN"/>
              <a:t>NGHIÊN CỨU DOANH NGHIỆP</a:t>
            </a:r>
            <a:endParaRPr lang="en-US"/>
          </a:p>
        </p:txBody>
      </p:sp>
      <p:sp>
        <p:nvSpPr>
          <p:cNvPr id="4" name="Slide Number Placeholder 3"/>
          <p:cNvSpPr>
            <a:spLocks noGrp="1"/>
          </p:cNvSpPr>
          <p:nvPr>
            <p:ph type="sldNum" sz="quarter" idx="5"/>
          </p:nvPr>
        </p:nvSpPr>
        <p:spPr/>
        <p:txBody>
          <a:bodyPr/>
          <a:lstStyle/>
          <a:p>
            <a:fld id="{5381D160-6648-4A4C-BEA5-3FB406DFE130}"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notesSlide" Target="../notesSlides/notesSlide1.xml"/><Relationship Id="rId8" Type="http://schemas.openxmlformats.org/officeDocument/2006/relationships/slideLayout" Target="../slideLayouts/slideLayout7.xml"/><Relationship Id="rId7" Type="http://schemas.openxmlformats.org/officeDocument/2006/relationships/image" Target="../media/image6.png"/><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tags" Target="../tags/tag1.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graphicFrame>
        <p:nvGraphicFramePr>
          <p:cNvPr id="3" name="Table 2"/>
          <p:cNvGraphicFramePr>
            <a:graphicFrameLocks noGrp="1"/>
          </p:cNvGraphicFramePr>
          <p:nvPr>
            <p:custDataLst>
              <p:tags r:id="rId2"/>
            </p:custDataLst>
          </p:nvPr>
        </p:nvGraphicFramePr>
        <p:xfrm>
          <a:off x="1476375" y="7472680"/>
          <a:ext cx="18421350" cy="20299680"/>
        </p:xfrm>
        <a:graphic>
          <a:graphicData uri="http://schemas.openxmlformats.org/drawingml/2006/table">
            <a:tbl>
              <a:tblPr firstRow="1" bandRow="1">
                <a:tableStyleId>{5C22544A-7EE6-4342-B048-85BDC9FD1C3A}</a:tableStyleId>
              </a:tblPr>
              <a:tblGrid>
                <a:gridCol w="9277350"/>
                <a:gridCol w="9144000"/>
              </a:tblGrid>
              <a:tr h="8808720">
                <a:tc>
                  <a:txBody>
                    <a:bodyPr/>
                    <a:lstStyle/>
                    <a:p>
                      <a:r>
                        <a:rPr lang="en-US" altLang="en-US" sz="2800" dirty="0">
                          <a:solidFill>
                            <a:srgbClr val="0070C0"/>
                          </a:solidFill>
                          <a:latin typeface="SVN-Gilroy" panose="00000800000000000000"/>
                        </a:rPr>
                        <a:t>ABSTRACT</a:t>
                      </a:r>
                      <a:endParaRPr lang="en-US" altLang="en-US" sz="2800" dirty="0">
                        <a:solidFill>
                          <a:schemeClr val="tx1"/>
                        </a:solidFill>
                        <a:latin typeface="SVN-Gilroy" panose="00000800000000000000"/>
                      </a:endParaRPr>
                    </a:p>
                    <a:p>
                      <a:endParaRPr lang="en-US" altLang="en-US" sz="2800" dirty="0">
                        <a:solidFill>
                          <a:schemeClr val="tx1"/>
                        </a:solidFill>
                        <a:latin typeface="SVN-Gilroy" panose="00000800000000000000"/>
                      </a:endParaRPr>
                    </a:p>
                    <a:p>
                      <a:r>
                        <a:rPr lang="en-US" altLang="en-US" sz="2800" b="0" dirty="0">
                          <a:solidFill>
                            <a:schemeClr val="tx1"/>
                          </a:solidFill>
                          <a:latin typeface="SVN-Gilroy" panose="00000800000000000000"/>
                        </a:rPr>
                        <a:t>In the context of smart tourism development, travelers often struggle to navigate HCMC’s public transport while seeking in-depth Vietnamese cultural insights. Existing Large Language Models (LLMs) frequently suffer from "hallucinations" when generating specific transit routes. This study proposes a Multimodal Assistant based on Modular Retrieval-Augmented Generation (RAG) architecture. By leveraging Neo4j Graph Database to model the bus network topology for deterministic pathfinding and Vector Search for semantic cultural retrieval, the system effectively mitigates AI inaccuracies. Experimental results demonstrate that the solution delivers absolute routing precision alongside rich, context-aware tourism information, offering a seamless experience for users.</a:t>
                      </a:r>
                      <a:endParaRPr lang="en-US" altLang="en-US" sz="2800" b="0" dirty="0">
                        <a:solidFill>
                          <a:schemeClr val="tx1"/>
                        </a:solidFill>
                        <a:latin typeface="SVN-Gilroy" panose="00000800000000000000"/>
                      </a:endParaRPr>
                    </a:p>
                  </a:txBody>
                  <a:tcPr marL="274320" marR="274320" marT="137160" marB="1371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US" altLang="en-US" sz="2800">
                          <a:solidFill>
                            <a:srgbClr val="0070C0"/>
                          </a:solidFill>
                          <a:latin typeface="SVN-Gilroy" panose="00000800000000000000"/>
                        </a:rPr>
                        <a:t>PROPOSED ARCHITECTURE</a:t>
                      </a:r>
                      <a:endParaRPr lang="en-US" altLang="en-US" sz="2800">
                        <a:solidFill>
                          <a:srgbClr val="0070C0"/>
                        </a:solidFill>
                        <a:latin typeface="SVN-Gilroy" panose="00000800000000000000"/>
                      </a:endParaRPr>
                    </a:p>
                    <a:p>
                      <a:endParaRPr lang="en-GB" sz="2800">
                        <a:solidFill>
                          <a:schemeClr val="tx1"/>
                        </a:solidFill>
                        <a:latin typeface="SVN-Gilroy" panose="00000800000000000000"/>
                      </a:endParaRPr>
                    </a:p>
                    <a:p>
                      <a:endParaRPr lang="en-GB" sz="2800">
                        <a:solidFill>
                          <a:schemeClr val="tx1"/>
                        </a:solidFill>
                        <a:latin typeface="SVN-Gilroy" panose="00000800000000000000"/>
                      </a:endParaRPr>
                    </a:p>
                    <a:p>
                      <a:endParaRPr lang="en-GB" sz="2800">
                        <a:solidFill>
                          <a:schemeClr val="tx1"/>
                        </a:solidFill>
                        <a:latin typeface="SVN-Gilroy" panose="00000800000000000000"/>
                      </a:endParaRPr>
                    </a:p>
                    <a:p>
                      <a:endParaRPr lang="en-GB" sz="2800">
                        <a:solidFill>
                          <a:schemeClr val="tx1"/>
                        </a:solidFill>
                        <a:latin typeface="SVN-Gilroy" panose="00000800000000000000"/>
                      </a:endParaRPr>
                    </a:p>
                    <a:p>
                      <a:endParaRPr lang="en-GB" sz="2800">
                        <a:solidFill>
                          <a:schemeClr val="tx1"/>
                        </a:solidFill>
                        <a:latin typeface="SVN-Gilroy" panose="00000800000000000000"/>
                      </a:endParaRPr>
                    </a:p>
                    <a:p>
                      <a:endParaRPr lang="en-GB" sz="2800">
                        <a:solidFill>
                          <a:schemeClr val="tx1"/>
                        </a:solidFill>
                        <a:latin typeface="SVN-Gilroy" panose="00000800000000000000"/>
                      </a:endParaRPr>
                    </a:p>
                    <a:p>
                      <a:endParaRPr lang="en-GB" sz="2800">
                        <a:solidFill>
                          <a:schemeClr val="tx1"/>
                        </a:solidFill>
                        <a:latin typeface="SVN-Gilroy" panose="00000800000000000000"/>
                      </a:endParaRPr>
                    </a:p>
                    <a:p>
                      <a:endParaRPr lang="en-GB" sz="2800">
                        <a:solidFill>
                          <a:schemeClr val="tx1"/>
                        </a:solidFill>
                        <a:latin typeface="SVN-Gilroy" panose="00000800000000000000"/>
                      </a:endParaRPr>
                    </a:p>
                    <a:p>
                      <a:endParaRPr lang="en-GB" sz="2800">
                        <a:solidFill>
                          <a:schemeClr val="tx1"/>
                        </a:solidFill>
                        <a:latin typeface="SVN-Gilroy" panose="00000800000000000000"/>
                      </a:endParaRPr>
                    </a:p>
                    <a:p>
                      <a:endParaRPr lang="en-GB" sz="2800">
                        <a:solidFill>
                          <a:schemeClr val="tx1"/>
                        </a:solidFill>
                        <a:latin typeface="SVN-Gilroy" panose="00000800000000000000"/>
                      </a:endParaRPr>
                    </a:p>
                    <a:p>
                      <a:endParaRPr lang="en-GB" sz="2800">
                        <a:solidFill>
                          <a:schemeClr val="tx1"/>
                        </a:solidFill>
                        <a:latin typeface="SVN-Gilroy" panose="00000800000000000000"/>
                      </a:endParaRPr>
                    </a:p>
                    <a:p>
                      <a:endParaRPr lang="en-GB" sz="2800">
                        <a:solidFill>
                          <a:schemeClr val="tx1"/>
                        </a:solidFill>
                        <a:latin typeface="SVN-Gilroy" panose="00000800000000000000"/>
                      </a:endParaRPr>
                    </a:p>
                    <a:p>
                      <a:endParaRPr lang="en-GB" sz="2800">
                        <a:solidFill>
                          <a:schemeClr val="tx1"/>
                        </a:solidFill>
                        <a:latin typeface="SVN-Gilroy" panose="00000800000000000000"/>
                      </a:endParaRPr>
                    </a:p>
                    <a:p>
                      <a:endParaRPr lang="vi-VN" sz="2800">
                        <a:solidFill>
                          <a:srgbClr val="0070C0"/>
                        </a:solidFill>
                        <a:latin typeface="SVN-Gilroy" panose="00000800000000000000"/>
                        <a:sym typeface="+mn-ea"/>
                      </a:endParaRPr>
                    </a:p>
                    <a:p>
                      <a:endParaRPr lang="vi-VN" sz="2800">
                        <a:solidFill>
                          <a:srgbClr val="0070C0"/>
                        </a:solidFill>
                        <a:latin typeface="SVN-Gilroy" panose="00000800000000000000"/>
                        <a:sym typeface="+mn-ea"/>
                      </a:endParaRPr>
                    </a:p>
                    <a:p>
                      <a:endParaRPr lang="vi-VN" sz="2800">
                        <a:solidFill>
                          <a:srgbClr val="0070C0"/>
                        </a:solidFill>
                        <a:latin typeface="SVN-Gilroy" panose="00000800000000000000"/>
                        <a:sym typeface="+mn-ea"/>
                      </a:endParaRPr>
                    </a:p>
                    <a:p>
                      <a:endParaRPr lang="vi-VN" sz="2800">
                        <a:solidFill>
                          <a:srgbClr val="0070C0"/>
                        </a:solidFill>
                        <a:latin typeface="SVN-Gilroy" panose="00000800000000000000"/>
                        <a:sym typeface="+mn-ea"/>
                      </a:endParaRPr>
                    </a:p>
                    <a:p>
                      <a:endParaRPr lang="en-GB" sz="2800">
                        <a:solidFill>
                          <a:schemeClr val="tx1"/>
                        </a:solidFill>
                        <a:latin typeface="SVN-Gilroy" panose="00000800000000000000"/>
                      </a:endParaRPr>
                    </a:p>
                  </a:txBody>
                  <a:tcPr marL="274320" marR="274320" marT="137160" marB="1371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10088880">
                <a:tc>
                  <a:txBody>
                    <a:bodyPr/>
                    <a:lstStyle/>
                    <a:p>
                      <a:r>
                        <a:rPr lang="en-US" altLang="en-US" sz="2800" b="1" dirty="0">
                          <a:solidFill>
                            <a:srgbClr val="0070C0"/>
                          </a:solidFill>
                          <a:latin typeface="SVN-Gilroy" panose="00000800000000000000"/>
                        </a:rPr>
                        <a:t>DATA PROCESSING &amp; OPERATIONAL PIPELINE</a:t>
                      </a:r>
                      <a:endParaRPr lang="en-US" altLang="en-US" sz="2800" b="0" dirty="0">
                        <a:solidFill>
                          <a:srgbClr val="0070C0"/>
                        </a:solidFill>
                        <a:latin typeface="SVN-Gilroy" panose="00000800000000000000"/>
                      </a:endParaRPr>
                    </a:p>
                    <a:p>
                      <a:r>
                        <a:rPr lang="en-US" altLang="en-US" sz="2800" b="0" dirty="0">
                          <a:solidFill>
                            <a:schemeClr val="tx1"/>
                          </a:solidFill>
                          <a:latin typeface="SVN-Gilroy" panose="00000800000000000000"/>
                        </a:rPr>
                        <a:t>1. Data Acquisition &amp; Preprocessing (ETL): Unicode normalization, bus data cleansing, and OCR processing for tourism documents.</a:t>
                      </a:r>
                      <a:endParaRPr lang="en-US" altLang="en-US" sz="2800" b="0" dirty="0">
                        <a:solidFill>
                          <a:schemeClr val="tx1"/>
                        </a:solidFill>
                        <a:latin typeface="SVN-Gilroy" panose="00000800000000000000"/>
                      </a:endParaRPr>
                    </a:p>
                    <a:p>
                      <a:endParaRPr lang="en-US" altLang="en-US" sz="2800" b="0" dirty="0">
                        <a:solidFill>
                          <a:schemeClr val="tx1"/>
                        </a:solidFill>
                        <a:latin typeface="SVN-Gilroy" panose="00000800000000000000"/>
                      </a:endParaRPr>
                    </a:p>
                    <a:p>
                      <a:r>
                        <a:rPr lang="en-US" altLang="en-US" sz="2800" b="0" dirty="0">
                          <a:solidFill>
                            <a:schemeClr val="tx1"/>
                          </a:solidFill>
                          <a:latin typeface="SVN-Gilroy" panose="00000800000000000000"/>
                        </a:rPr>
                        <a:t>2. Data Modeling:</a:t>
                      </a:r>
                      <a:endParaRPr lang="en-US" altLang="en-US" sz="2800" b="0" dirty="0">
                        <a:solidFill>
                          <a:schemeClr val="tx1"/>
                        </a:solidFill>
                        <a:latin typeface="SVN-Gilroy" panose="00000800000000000000"/>
                      </a:endParaRPr>
                    </a:p>
                    <a:p>
                      <a:r>
                        <a:rPr lang="en-US" altLang="en-US" sz="2800" b="0" dirty="0">
                          <a:solidFill>
                            <a:schemeClr val="tx1"/>
                          </a:solidFill>
                          <a:latin typeface="SVN-Gilroy" panose="00000800000000000000"/>
                        </a:rPr>
                        <a:t>   Transit: Constructing Graph topology      (Nodes/Relationships) for the bus network.</a:t>
                      </a:r>
                      <a:endParaRPr lang="en-US" altLang="en-US" sz="2800" b="0" dirty="0">
                        <a:solidFill>
                          <a:schemeClr val="tx1"/>
                        </a:solidFill>
                        <a:latin typeface="SVN-Gilroy" panose="00000800000000000000"/>
                      </a:endParaRPr>
                    </a:p>
                    <a:p>
                      <a:r>
                        <a:rPr lang="en-US" altLang="en-US" sz="2800" b="0" dirty="0">
                          <a:solidFill>
                            <a:schemeClr val="tx1"/>
                          </a:solidFill>
                          <a:latin typeface="SVN-Gilroy" panose="00000800000000000000"/>
                        </a:rPr>
                        <a:t>   Tourism: Implementing text chunking and  Vector Embedding.</a:t>
                      </a:r>
                      <a:endParaRPr lang="en-US" altLang="en-US" sz="2800" b="0" dirty="0">
                        <a:solidFill>
                          <a:schemeClr val="tx1"/>
                        </a:solidFill>
                        <a:latin typeface="SVN-Gilroy" panose="00000800000000000000"/>
                      </a:endParaRPr>
                    </a:p>
                    <a:p>
                      <a:endParaRPr lang="en-US" altLang="en-US" sz="2800" b="0" dirty="0">
                        <a:solidFill>
                          <a:schemeClr val="tx1"/>
                        </a:solidFill>
                        <a:latin typeface="SVN-Gilroy" panose="00000800000000000000"/>
                      </a:endParaRPr>
                    </a:p>
                    <a:p>
                      <a:r>
                        <a:rPr lang="en-US" altLang="en-US" sz="2800" b="0" dirty="0">
                          <a:solidFill>
                            <a:schemeClr val="tx1"/>
                          </a:solidFill>
                          <a:latin typeface="SVN-Gilroy" panose="00000800000000000000"/>
                        </a:rPr>
                        <a:t>3. Centralized Storage: Integrating data into Neo4j Graph Database (leveraging both Graph and Vector Indexes).</a:t>
                      </a:r>
                      <a:endParaRPr lang="en-US" altLang="en-US" sz="2800" b="0" dirty="0">
                        <a:solidFill>
                          <a:schemeClr val="tx1"/>
                        </a:solidFill>
                        <a:latin typeface="SVN-Gilroy" panose="00000800000000000000"/>
                      </a:endParaRPr>
                    </a:p>
                    <a:p>
                      <a:endParaRPr lang="en-US" altLang="en-US" sz="2800" b="0" dirty="0">
                        <a:solidFill>
                          <a:schemeClr val="tx1"/>
                        </a:solidFill>
                        <a:latin typeface="SVN-Gilroy" panose="00000800000000000000"/>
                      </a:endParaRPr>
                    </a:p>
                    <a:p>
                      <a:r>
                        <a:rPr lang="en-US" altLang="en-US" sz="2800" b="0" dirty="0">
                          <a:solidFill>
                            <a:schemeClr val="tx1"/>
                          </a:solidFill>
                          <a:latin typeface="SVN-Gilroy" panose="00000800000000000000"/>
                        </a:rPr>
                        <a:t>4. Information Retrieval: Executing ShortestPath algorithms for routing and Hybrid Search for semantic querying.</a:t>
                      </a:r>
                      <a:endParaRPr lang="en-US" altLang="en-US" sz="2800" b="0" dirty="0">
                        <a:solidFill>
                          <a:schemeClr val="tx1"/>
                        </a:solidFill>
                        <a:latin typeface="SVN-Gilroy" panose="00000800000000000000"/>
                      </a:endParaRPr>
                    </a:p>
                    <a:p>
                      <a:endParaRPr lang="en-US" altLang="en-US" sz="2800" b="0" dirty="0">
                        <a:solidFill>
                          <a:schemeClr val="tx1"/>
                        </a:solidFill>
                        <a:latin typeface="SVN-Gilroy" panose="00000800000000000000"/>
                      </a:endParaRPr>
                    </a:p>
                    <a:p>
                      <a:r>
                        <a:rPr lang="en-US" altLang="en-US" sz="2800" b="0" dirty="0">
                          <a:solidFill>
                            <a:schemeClr val="tx1"/>
                          </a:solidFill>
                          <a:latin typeface="SVN-Gilroy" panose="00000800000000000000"/>
                        </a:rPr>
                        <a:t>5. Response Synthesis: Generating natural language responses via Gemini 2.0 based on retrieved context.</a:t>
                      </a:r>
                      <a:endParaRPr lang="en-US" altLang="en-US" sz="2800" b="0" dirty="0">
                        <a:solidFill>
                          <a:schemeClr val="tx1"/>
                        </a:solidFill>
                        <a:latin typeface="SVN-Gilroy" panose="00000800000000000000"/>
                      </a:endParaRPr>
                    </a:p>
                  </a:txBody>
                  <a:tcPr marL="274320" marR="274320" marT="137160" marB="1371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en-US" sz="2800" b="1">
                          <a:solidFill>
                            <a:srgbClr val="0070C0"/>
                          </a:solidFill>
                          <a:latin typeface="SVN-Gilroy" panose="00000800000000000000"/>
                        </a:rPr>
                        <a:t>Experimental Results and Performance Optimization</a:t>
                      </a:r>
                      <a:endParaRPr lang="en-US" altLang="en-US" sz="2800" b="1">
                        <a:solidFill>
                          <a:srgbClr val="0070C0"/>
                        </a:solidFill>
                        <a:latin typeface="SVN-Gilroy" panose="00000800000000000000"/>
                      </a:endParaRPr>
                    </a:p>
                  </a:txBody>
                  <a:tcPr marL="274320" marR="274320" marT="137160" marB="1371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701040">
                <a:tc>
                  <a:txBody>
                    <a:bodyPr/>
                    <a:lstStyle/>
                    <a:p>
                      <a:endParaRPr lang="en-US" altLang="vi-VN" sz="2800" b="1">
                        <a:solidFill>
                          <a:srgbClr val="0070C0"/>
                        </a:solidFill>
                        <a:latin typeface="SVN-Gilroy" panose="00000800000000000000"/>
                      </a:endParaRPr>
                    </a:p>
                  </a:txBody>
                  <a:tcPr marL="274320" marR="274320" marT="137160" marB="1371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GB" sz="2800">
                        <a:solidFill>
                          <a:schemeClr val="tx1"/>
                        </a:solidFill>
                        <a:latin typeface="SVN-Gilroy" panose="00000800000000000000"/>
                      </a:endParaRPr>
                    </a:p>
                  </a:txBody>
                  <a:tcPr marL="274320" marR="274320" marT="137160" marB="1371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r h="701040">
                <a:tc>
                  <a:txBody>
                    <a:bodyPr/>
                    <a:lstStyle/>
                    <a:p>
                      <a:pPr indent="0" fontAlgn="auto"/>
                      <a:endParaRPr lang="en-GB" sz="2800" dirty="0">
                        <a:solidFill>
                          <a:schemeClr val="tx1"/>
                        </a:solidFill>
                        <a:latin typeface="SVN-Gilroy" panose="00000800000000000000"/>
                      </a:endParaRPr>
                    </a:p>
                  </a:txBody>
                  <a:tcPr marL="274320" marR="274320" marT="137160" marB="1371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GB" sz="2800" dirty="0">
                        <a:solidFill>
                          <a:schemeClr val="tx1"/>
                        </a:solidFill>
                        <a:latin typeface="SVN-Gilroy" panose="00000800000000000000"/>
                      </a:endParaRPr>
                    </a:p>
                  </a:txBody>
                  <a:tcPr marL="274320" marR="274320" marT="137160" marB="137160">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r>
            </a:tbl>
          </a:graphicData>
        </a:graphic>
      </p:graphicFrame>
      <p:sp>
        <p:nvSpPr>
          <p:cNvPr id="43" name="TextBox 61"/>
          <p:cNvSpPr txBox="1"/>
          <p:nvPr/>
        </p:nvSpPr>
        <p:spPr>
          <a:xfrm>
            <a:off x="1314450" y="1264285"/>
            <a:ext cx="4026535" cy="756285"/>
          </a:xfrm>
          <a:prstGeom prst="rect">
            <a:avLst/>
          </a:prstGeom>
        </p:spPr>
        <p:txBody>
          <a:bodyPr wrap="square" lIns="0" tIns="0" rIns="0" bIns="0" rtlCol="0" anchor="t">
            <a:spAutoFit/>
          </a:bodyPr>
          <a:lstStyle/>
          <a:p>
            <a:pPr>
              <a:lnSpc>
                <a:spcPts val="5900"/>
              </a:lnSpc>
            </a:pPr>
            <a:r>
              <a:rPr lang="en-US" sz="3600" i="1" dirty="0">
                <a:solidFill>
                  <a:schemeClr val="bg1"/>
                </a:solidFill>
                <a:latin typeface="SVN-Gilroy SemiBold" panose="00000700000000000000" pitchFamily="50" charset="0"/>
              </a:rPr>
              <a:t>Year: 2025</a:t>
            </a:r>
            <a:endParaRPr lang="en-US" sz="3600" b="1" dirty="0">
              <a:solidFill>
                <a:schemeClr val="bg1"/>
              </a:solidFill>
              <a:latin typeface="SVN-Gilroy" panose="00000800000000000000" charset="0"/>
            </a:endParaRPr>
          </a:p>
        </p:txBody>
      </p:sp>
      <p:sp>
        <p:nvSpPr>
          <p:cNvPr id="44" name="TextBox 61"/>
          <p:cNvSpPr txBox="1"/>
          <p:nvPr/>
        </p:nvSpPr>
        <p:spPr>
          <a:xfrm>
            <a:off x="1162050" y="508000"/>
            <a:ext cx="13263880" cy="756285"/>
          </a:xfrm>
          <a:prstGeom prst="rect">
            <a:avLst/>
          </a:prstGeom>
        </p:spPr>
        <p:txBody>
          <a:bodyPr wrap="square" lIns="0" tIns="0" rIns="0" bIns="0" rtlCol="0" anchor="t">
            <a:spAutoFit/>
          </a:bodyPr>
          <a:lstStyle/>
          <a:p>
            <a:pPr>
              <a:lnSpc>
                <a:spcPts val="5900"/>
              </a:lnSpc>
            </a:pPr>
            <a:r>
              <a:rPr lang="en-US" sz="4800" dirty="0">
                <a:solidFill>
                  <a:schemeClr val="bg1"/>
                </a:solidFill>
                <a:latin typeface="SVN-Gilroy XBold" panose="00000900000000000000" pitchFamily="50" charset="0"/>
              </a:rPr>
              <a:t>INFORMATION TECHNOLOGY PROJECT</a:t>
            </a:r>
            <a:endParaRPr lang="en-US" sz="4800" dirty="0">
              <a:solidFill>
                <a:schemeClr val="bg1"/>
              </a:solidFill>
              <a:latin typeface="SVN-Gilroy XBold" panose="00000900000000000000" pitchFamily="50" charset="0"/>
            </a:endParaRPr>
          </a:p>
        </p:txBody>
      </p:sp>
      <p:sp>
        <p:nvSpPr>
          <p:cNvPr id="51" name="TextBox 61"/>
          <p:cNvSpPr txBox="1"/>
          <p:nvPr/>
        </p:nvSpPr>
        <p:spPr>
          <a:xfrm>
            <a:off x="1085850" y="2075180"/>
            <a:ext cx="14307185" cy="2269490"/>
          </a:xfrm>
          <a:prstGeom prst="rect">
            <a:avLst/>
          </a:prstGeom>
        </p:spPr>
        <p:txBody>
          <a:bodyPr wrap="square" lIns="0" tIns="0" rIns="0" bIns="0" rtlCol="0" anchor="t">
            <a:spAutoFit/>
          </a:bodyPr>
          <a:lstStyle/>
          <a:p>
            <a:pPr>
              <a:lnSpc>
                <a:spcPts val="5900"/>
              </a:lnSpc>
            </a:pPr>
            <a:r>
              <a:rPr lang="en-US" sz="4600" b="1" dirty="0">
                <a:solidFill>
                  <a:schemeClr val="bg1"/>
                </a:solidFill>
                <a:latin typeface="SVN-Gilroy" panose="00000800000000000000" charset="0"/>
              </a:rPr>
              <a:t>Topic: </a:t>
            </a:r>
            <a:r>
              <a:rPr lang="en-US" altLang="en-US" sz="4600" b="1" dirty="0">
                <a:solidFill>
                  <a:schemeClr val="bg1"/>
                </a:solidFill>
                <a:latin typeface="SVN-Gilroy" panose="00000800000000000000" charset="0"/>
                <a:cs typeface="SVN-Gilroy" panose="00000800000000000000" charset="0"/>
              </a:rPr>
              <a:t>Developing a Multimodal Question–Answering System based on RAG in the Fields of Transportation - Culture and Tourism</a:t>
            </a:r>
            <a:endParaRPr lang="en-US" altLang="en-US" sz="4600" b="1" dirty="0">
              <a:solidFill>
                <a:schemeClr val="bg1"/>
              </a:solidFill>
              <a:latin typeface="SVN-Gilroy" panose="00000800000000000000" charset="0"/>
              <a:cs typeface="SVN-Gilroy" panose="00000800000000000000" charset="0"/>
            </a:endParaRPr>
          </a:p>
        </p:txBody>
      </p:sp>
      <p:sp>
        <p:nvSpPr>
          <p:cNvPr id="53" name="TextBox 61"/>
          <p:cNvSpPr txBox="1"/>
          <p:nvPr/>
        </p:nvSpPr>
        <p:spPr>
          <a:xfrm>
            <a:off x="1475215" y="5156503"/>
            <a:ext cx="15167610" cy="756285"/>
          </a:xfrm>
          <a:prstGeom prst="rect">
            <a:avLst/>
          </a:prstGeom>
        </p:spPr>
        <p:txBody>
          <a:bodyPr wrap="square" lIns="0" tIns="0" rIns="0" bIns="0" rtlCol="0" anchor="t">
            <a:spAutoFit/>
          </a:bodyPr>
          <a:lstStyle/>
          <a:p>
            <a:pPr>
              <a:lnSpc>
                <a:spcPts val="5900"/>
              </a:lnSpc>
            </a:pPr>
            <a:r>
              <a:rPr lang="en-US" altLang="vi-VN" sz="4000" i="1" dirty="0">
                <a:solidFill>
                  <a:schemeClr val="bg1"/>
                </a:solidFill>
                <a:latin typeface="SVN-Gilroy" panose="00000800000000000000" charset="0"/>
              </a:rPr>
              <a:t>Tran Ngoc Phat</a:t>
            </a:r>
            <a:r>
              <a:rPr lang="vi-VN" sz="4000" i="1" baseline="30000" dirty="0">
                <a:solidFill>
                  <a:schemeClr val="bg1"/>
                </a:solidFill>
                <a:latin typeface="SVN-Gilroy" panose="00000800000000000000" charset="0"/>
              </a:rPr>
              <a:t>1</a:t>
            </a:r>
            <a:r>
              <a:rPr lang="vi-VN" sz="4000" i="1" dirty="0">
                <a:solidFill>
                  <a:schemeClr val="bg1"/>
                </a:solidFill>
                <a:latin typeface="SVN-Gilroy" panose="00000800000000000000" charset="0"/>
              </a:rPr>
              <a:t>, </a:t>
            </a:r>
            <a:r>
              <a:rPr lang="en-US" altLang="vi-VN" sz="4000" i="1" dirty="0">
                <a:solidFill>
                  <a:schemeClr val="bg1"/>
                </a:solidFill>
                <a:latin typeface="SVN-Gilroy" panose="00000800000000000000" charset="0"/>
              </a:rPr>
              <a:t>Ngo Anh Tuan</a:t>
            </a:r>
            <a:r>
              <a:rPr lang="en-US" altLang="vi-VN" sz="4000" i="1" baseline="30000" dirty="0">
                <a:solidFill>
                  <a:schemeClr val="bg1"/>
                </a:solidFill>
                <a:latin typeface="SVN-Gilroy" panose="00000800000000000000" charset="0"/>
              </a:rPr>
              <a:t>2</a:t>
            </a:r>
            <a:r>
              <a:rPr lang="vi-VN" sz="4000" i="1" dirty="0">
                <a:solidFill>
                  <a:schemeClr val="bg1"/>
                </a:solidFill>
                <a:latin typeface="SVN-Gilroy" panose="00000800000000000000" charset="0"/>
              </a:rPr>
              <a:t>, </a:t>
            </a:r>
            <a:r>
              <a:rPr lang="en-US" altLang="vi-VN" sz="4000" i="1" dirty="0">
                <a:solidFill>
                  <a:schemeClr val="bg1"/>
                </a:solidFill>
                <a:latin typeface="SVN-Gilroy" panose="00000800000000000000" charset="0"/>
              </a:rPr>
              <a:t>Tran Thanh Phuoc</a:t>
            </a:r>
            <a:r>
              <a:rPr lang="vi-VN" sz="4000" i="1" baseline="30000" dirty="0">
                <a:solidFill>
                  <a:schemeClr val="bg1"/>
                </a:solidFill>
                <a:latin typeface="SVN-Gilroy" panose="00000800000000000000" charset="0"/>
              </a:rPr>
              <a:t>*</a:t>
            </a:r>
            <a:r>
              <a:rPr lang="vi-VN" sz="4000" i="1" dirty="0">
                <a:solidFill>
                  <a:schemeClr val="bg1"/>
                </a:solidFill>
                <a:latin typeface="SVN-Gilroy" panose="00000800000000000000" charset="0"/>
              </a:rPr>
              <a:t> </a:t>
            </a:r>
            <a:endParaRPr lang="vi-VN" sz="4000" i="1" dirty="0">
              <a:solidFill>
                <a:schemeClr val="bg1"/>
              </a:solidFill>
              <a:latin typeface="SVN-Gilroy" panose="00000800000000000000" charset="0"/>
            </a:endParaRPr>
          </a:p>
        </p:txBody>
      </p:sp>
      <p:sp>
        <p:nvSpPr>
          <p:cNvPr id="2" name="TextBox 61"/>
          <p:cNvSpPr txBox="1"/>
          <p:nvPr/>
        </p:nvSpPr>
        <p:spPr>
          <a:xfrm>
            <a:off x="1306940" y="6180213"/>
            <a:ext cx="15704820" cy="430530"/>
          </a:xfrm>
          <a:prstGeom prst="rect">
            <a:avLst/>
          </a:prstGeom>
        </p:spPr>
        <p:txBody>
          <a:bodyPr wrap="square" lIns="0" tIns="0" rIns="0" bIns="0" rtlCol="0" anchor="t">
            <a:spAutoFit/>
          </a:bodyPr>
          <a:lstStyle/>
          <a:p>
            <a:r>
              <a:rPr lang="vi-VN" sz="2800" i="1" baseline="30000">
                <a:solidFill>
                  <a:schemeClr val="bg1"/>
                </a:solidFill>
                <a:latin typeface="SVN-Gilroy" panose="00000800000000000000" charset="0"/>
              </a:rPr>
              <a:t>1</a:t>
            </a:r>
            <a:r>
              <a:rPr lang="en-US" altLang="vi-VN" sz="2800" i="1" baseline="30000">
                <a:solidFill>
                  <a:schemeClr val="bg1"/>
                </a:solidFill>
                <a:latin typeface="SVN-Gilroy" panose="00000800000000000000" charset="0"/>
              </a:rPr>
              <a:t>, 2</a:t>
            </a:r>
            <a:r>
              <a:rPr lang="vi-VN" sz="2800" i="1" baseline="30000">
                <a:solidFill>
                  <a:schemeClr val="bg1"/>
                </a:solidFill>
                <a:latin typeface="SVN-Gilroy" panose="00000800000000000000" charset="0"/>
              </a:rPr>
              <a:t> </a:t>
            </a:r>
            <a:r>
              <a:rPr lang="en-US" sz="2800" i="1">
                <a:solidFill>
                  <a:schemeClr val="bg1"/>
                </a:solidFill>
                <a:latin typeface="SVN-Gilroy" panose="00000800000000000000" charset="0"/>
              </a:rPr>
              <a:t>Software Engineering Student</a:t>
            </a:r>
            <a:r>
              <a:rPr lang="vi-VN" sz="2800" i="1">
                <a:solidFill>
                  <a:schemeClr val="bg1"/>
                </a:solidFill>
                <a:latin typeface="SVN-Gilroy" panose="00000800000000000000" charset="0"/>
              </a:rPr>
              <a:t>,</a:t>
            </a:r>
            <a:r>
              <a:rPr lang="en-US" altLang="vi-VN" sz="2800" i="1">
                <a:solidFill>
                  <a:schemeClr val="bg1"/>
                </a:solidFill>
                <a:latin typeface="SVN-Gilroy" panose="00000800000000000000" charset="0"/>
              </a:rPr>
              <a:t> </a:t>
            </a:r>
            <a:r>
              <a:rPr lang="vi-VN" sz="2800" i="1" baseline="30000">
                <a:solidFill>
                  <a:schemeClr val="bg1"/>
                </a:solidFill>
                <a:latin typeface="SVN-Gilroy" panose="00000800000000000000" charset="0"/>
              </a:rPr>
              <a:t>*</a:t>
            </a:r>
            <a:r>
              <a:rPr lang="en-US" altLang="vi-VN" sz="2800" i="1">
                <a:solidFill>
                  <a:schemeClr val="bg1"/>
                </a:solidFill>
                <a:latin typeface="SVN-Gilroy" panose="00000800000000000000" charset="0"/>
              </a:rPr>
              <a:t>Supervisor, Faculty Information Technology</a:t>
            </a:r>
            <a:r>
              <a:rPr lang="vi-VN" sz="2800" i="1">
                <a:solidFill>
                  <a:schemeClr val="bg1"/>
                </a:solidFill>
                <a:latin typeface="SVN-Gilroy" panose="00000800000000000000" charset="0"/>
              </a:rPr>
              <a:t> </a:t>
            </a:r>
            <a:endParaRPr lang="vi-VN" sz="2800" i="1">
              <a:solidFill>
                <a:schemeClr val="bg1"/>
              </a:solidFill>
              <a:latin typeface="SVN-Gilroy" panose="00000800000000000000" charset="0"/>
            </a:endParaRPr>
          </a:p>
        </p:txBody>
      </p:sp>
      <p:pic>
        <p:nvPicPr>
          <p:cNvPr id="4" name="Picture 3" descr="QRcodeToSourceDACNTT"/>
          <p:cNvPicPr>
            <a:picLocks noChangeAspect="1"/>
          </p:cNvPicPr>
          <p:nvPr/>
        </p:nvPicPr>
        <p:blipFill>
          <a:blip r:embed="rId3"/>
          <a:stretch>
            <a:fillRect/>
          </a:stretch>
        </p:blipFill>
        <p:spPr>
          <a:xfrm>
            <a:off x="17011650" y="3327400"/>
            <a:ext cx="3121660" cy="3121660"/>
          </a:xfrm>
          <a:prstGeom prst="rect">
            <a:avLst/>
          </a:prstGeom>
        </p:spPr>
      </p:pic>
      <p:pic>
        <p:nvPicPr>
          <p:cNvPr id="9" name="Picture 8"/>
          <p:cNvPicPr>
            <a:picLocks noChangeAspect="1"/>
          </p:cNvPicPr>
          <p:nvPr/>
        </p:nvPicPr>
        <p:blipFill>
          <a:blip r:embed="rId4"/>
          <a:stretch>
            <a:fillRect/>
          </a:stretch>
        </p:blipFill>
        <p:spPr>
          <a:xfrm>
            <a:off x="10991850" y="17576800"/>
            <a:ext cx="7719695" cy="6415405"/>
          </a:xfrm>
          <a:prstGeom prst="rect">
            <a:avLst/>
          </a:prstGeom>
        </p:spPr>
      </p:pic>
      <p:pic>
        <p:nvPicPr>
          <p:cNvPr id="11" name="Picture 10"/>
          <p:cNvPicPr>
            <a:picLocks noChangeAspect="1"/>
          </p:cNvPicPr>
          <p:nvPr/>
        </p:nvPicPr>
        <p:blipFill>
          <a:blip r:embed="rId5"/>
          <a:stretch>
            <a:fillRect/>
          </a:stretch>
        </p:blipFill>
        <p:spPr>
          <a:xfrm>
            <a:off x="10915650" y="24130000"/>
            <a:ext cx="4381500" cy="3381375"/>
          </a:xfrm>
          <a:prstGeom prst="rect">
            <a:avLst/>
          </a:prstGeom>
        </p:spPr>
      </p:pic>
      <p:pic>
        <p:nvPicPr>
          <p:cNvPr id="12" name="Picture 11"/>
          <p:cNvPicPr>
            <a:picLocks noChangeAspect="1"/>
          </p:cNvPicPr>
          <p:nvPr/>
        </p:nvPicPr>
        <p:blipFill>
          <a:blip r:embed="rId6"/>
          <a:stretch>
            <a:fillRect/>
          </a:stretch>
        </p:blipFill>
        <p:spPr>
          <a:xfrm>
            <a:off x="15393035" y="24130000"/>
            <a:ext cx="3977005" cy="3261995"/>
          </a:xfrm>
          <a:prstGeom prst="rect">
            <a:avLst/>
          </a:prstGeom>
        </p:spPr>
      </p:pic>
      <p:pic>
        <p:nvPicPr>
          <p:cNvPr id="13" name="Picture 12"/>
          <p:cNvPicPr>
            <a:picLocks noChangeAspect="1"/>
          </p:cNvPicPr>
          <p:nvPr/>
        </p:nvPicPr>
        <p:blipFill>
          <a:blip r:embed="rId7"/>
          <a:stretch>
            <a:fillRect/>
          </a:stretch>
        </p:blipFill>
        <p:spPr>
          <a:xfrm>
            <a:off x="10915650" y="8128000"/>
            <a:ext cx="8408035" cy="8039100"/>
          </a:xfrm>
          <a:prstGeom prst="rect">
            <a:avLst/>
          </a:prstGeom>
        </p:spPr>
      </p:pic>
    </p:spTree>
  </p:cSld>
  <p:clrMapOvr>
    <a:masterClrMapping/>
  </p:clrMapOvr>
</p:sld>
</file>

<file path=ppt/tags/tag1.xml><?xml version="1.0" encoding="utf-8"?>
<p:tagLst xmlns:p="http://schemas.openxmlformats.org/presentationml/2006/main">
  <p:tag name="TABLE_ENDDRAG_ORIGIN_RECT" val="1450*1572"/>
  <p:tag name="TABLE_ENDDRAG_RECT" val="116*588*1450*157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1793</Words>
  <Application>WPS Presentation</Application>
  <PresentationFormat>Custom</PresentationFormat>
  <Paragraphs>49</Paragraphs>
  <Slides>1</Slides>
  <Notes>1</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1</vt:i4>
      </vt:variant>
    </vt:vector>
  </HeadingPairs>
  <TitlesOfParts>
    <vt:vector size="14" baseType="lpstr">
      <vt:lpstr>Arial</vt:lpstr>
      <vt:lpstr>SimSun</vt:lpstr>
      <vt:lpstr>Wingdings</vt:lpstr>
      <vt:lpstr>SVN-Gilroy</vt:lpstr>
      <vt:lpstr>SVN-Gilroy SemiBold</vt:lpstr>
      <vt:lpstr>SVN-Gilroy</vt:lpstr>
      <vt:lpstr>SVN-Gilroy XBold</vt:lpstr>
      <vt:lpstr>SVN Gilroy Xbold</vt:lpstr>
      <vt:lpstr>Segoe Print</vt:lpstr>
      <vt:lpstr>Microsoft YaHei</vt:lpstr>
      <vt:lpstr>Arial Unicode MS</vt:lpstr>
      <vt:lpstr>Calibri</vt:lpstr>
      <vt:lpstr>Office Theme</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Poster triễn lãm NCKH_ALD</dc:title>
  <dc:creator/>
  <cp:lastModifiedBy>Ngô Anh Tuấn</cp:lastModifiedBy>
  <cp:revision>37</cp:revision>
  <dcterms:created xsi:type="dcterms:W3CDTF">2006-08-16T00:00:00Z</dcterms:created>
  <dcterms:modified xsi:type="dcterms:W3CDTF">2026-01-26T14:42:58Z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2CF53A1AB6194177BA646EE9371A60B1_12</vt:lpwstr>
  </property>
  <property fmtid="{D5CDD505-2E9C-101B-9397-08002B2CF9AE}" pid="3" name="KSOProductBuildVer">
    <vt:lpwstr>1033-12.2.0.23196</vt:lpwstr>
  </property>
</Properties>
</file>